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315" r:id="rId5"/>
    <p:sldId id="258" r:id="rId6"/>
    <p:sldId id="259" r:id="rId7"/>
    <p:sldId id="260" r:id="rId8"/>
    <p:sldId id="265" r:id="rId9"/>
    <p:sldId id="262" r:id="rId10"/>
    <p:sldId id="278" r:id="rId11"/>
    <p:sldId id="269" r:id="rId12"/>
    <p:sldId id="261" r:id="rId13"/>
    <p:sldId id="273" r:id="rId14"/>
    <p:sldId id="279" r:id="rId15"/>
    <p:sldId id="290" r:id="rId16"/>
    <p:sldId id="274" r:id="rId17"/>
    <p:sldId id="285" r:id="rId18"/>
    <p:sldId id="336" r:id="rId19"/>
    <p:sldId id="291" r:id="rId20"/>
    <p:sldId id="263" r:id="rId21"/>
    <p:sldId id="335" r:id="rId22"/>
    <p:sldId id="297" r:id="rId23"/>
    <p:sldId id="264" r:id="rId24"/>
  </p:sldIdLst>
  <p:sldSz cx="18288000" cy="10287000"/>
  <p:notesSz cx="6858000" cy="9144000"/>
  <p:embeddedFontLst>
    <p:embeddedFont>
      <p:font typeface="微軟正黑體" panose="020B0604030504040204" charset="-120"/>
      <p:regular r:id="rId28"/>
    </p:embeddedFont>
    <p:embeddedFont>
      <p:font typeface="王漢宗特黑體" panose="02000500000000000000"/>
      <p:regular r:id="rId29"/>
    </p:embeddedFont>
    <p:embeddedFont>
      <p:font typeface="標楷體" panose="03000509000000000000" charset="-120"/>
      <p:regular r:id="rId30"/>
    </p:embeddedFont>
    <p:embeddedFont>
      <p:font typeface="SimSun" panose="02010600030101010101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  <p:embeddedFont>
      <p:font typeface="新細明體" panose="02020500000000000000" charset="-12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6B8"/>
    <a:srgbClr val="FFB25C"/>
    <a:srgbClr val="EE88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83"/>
        <p:guide pos="29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4.GIF"/><Relationship Id="rId1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1889125" y="1428750"/>
            <a:ext cx="14509750" cy="7429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Freeform 2"/>
          <p:cNvSpPr/>
          <p:nvPr/>
        </p:nvSpPr>
        <p:spPr>
          <a:xfrm flipH="1">
            <a:off x="874106" y="-262255"/>
            <a:ext cx="5620324" cy="5620324"/>
          </a:xfrm>
          <a:custGeom>
            <a:avLst/>
            <a:gdLst/>
            <a:ahLst/>
            <a:cxnLst/>
            <a:rect l="l" t="t" r="r" b="b"/>
            <a:pathLst>
              <a:path w="5620324" h="5620324">
                <a:moveTo>
                  <a:pt x="5620325" y="0"/>
                </a:moveTo>
                <a:lnTo>
                  <a:pt x="0" y="0"/>
                </a:lnTo>
                <a:lnTo>
                  <a:pt x="0" y="5620324"/>
                </a:lnTo>
                <a:lnTo>
                  <a:pt x="5620325" y="5620324"/>
                </a:lnTo>
                <a:lnTo>
                  <a:pt x="5620325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597140" y="6558280"/>
            <a:ext cx="3093720" cy="711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zh-TW" altLang="en-US" sz="4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遊戲團體</a:t>
            </a:r>
            <a:r>
              <a:rPr lang="en-US" sz="4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提案</a:t>
            </a:r>
            <a:endParaRPr lang="en-US" sz="4000" b="1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pic>
        <p:nvPicPr>
          <p:cNvPr id="12" name="圖片 11" descr="標體字"/>
          <p:cNvPicPr>
            <a:picLocks noChangeAspect="1"/>
          </p:cNvPicPr>
          <p:nvPr/>
        </p:nvPicPr>
        <p:blipFill>
          <a:blip r:embed="rId2"/>
          <a:srcRect t="77" b="58"/>
          <a:stretch>
            <a:fillRect/>
          </a:stretch>
        </p:blipFill>
        <p:spPr>
          <a:xfrm>
            <a:off x="4114800" y="2886710"/>
            <a:ext cx="10058400" cy="34302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768350" y="1843405"/>
            <a:ext cx="16751300" cy="78225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5560" y="993775"/>
            <a:ext cx="5884545" cy="1348740"/>
            <a:chOff x="0" y="0"/>
            <a:chExt cx="1538522" cy="3894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3040" y="1112520"/>
            <a:ext cx="2844800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zh-TW" alt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製作動機</a:t>
            </a:r>
            <a:endParaRPr lang="zh-TW" alt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7260" y="3314700"/>
            <a:ext cx="13874115" cy="365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想讓遊戲結合娛樂與愚意，靈感「來自人類因過度捕撈、污染環境而引發自然反撲」的想像，提醒人類對自然的影響，傳達環境議題，設計結合搞笑互動讓遊戲輕鬆有趣</a:t>
            </a:r>
            <a:endParaRPr lang="en-US" sz="3200" b="1" spc="43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768350" y="1830705"/>
            <a:ext cx="16751300" cy="78225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5560" y="993775"/>
            <a:ext cx="5884545" cy="1348740"/>
            <a:chOff x="0" y="0"/>
            <a:chExt cx="1538522" cy="3894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3040" y="1112520"/>
            <a:ext cx="2844800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故事大綱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6712" y="2923540"/>
            <a:ext cx="15015845" cy="487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佼佼湖有個「釣到大魚的人能富裕」的傳說，引起大眾紛紛來挑戰，隨著時間流逝，湖的環境惡化了。因此湖裡的魚恨人類，決定喝下能長腳的藥水，離開湖向人類展</a:t>
            </a:r>
            <a:r>
              <a:rPr lang="zh-TW" alt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開報仇</a:t>
            </a: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。隨著城市被長出腳的魚摧毀，人類意識到自己的惡行，一同幫湖整潔，讓魚息怒。</a:t>
            </a:r>
            <a:endParaRPr lang="en-US" sz="3200" b="1" spc="43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828040" y="2353945"/>
            <a:ext cx="16632555" cy="68033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1281285"/>
            <a:ext cx="5841575" cy="1478740"/>
            <a:chOff x="0" y="0"/>
            <a:chExt cx="1538522" cy="389462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98340" y="1453617"/>
            <a:ext cx="2844895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遊戲介紹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16150" y="3491865"/>
            <a:ext cx="5386705" cy="3411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en-US" sz="4400" b="1" u="sng" spc="59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類型</a:t>
            </a:r>
            <a:r>
              <a:rPr lang="en-US" sz="4400" b="1" u="sng" spc="598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:</a:t>
            </a:r>
            <a:endParaRPr lang="en-US" sz="4400" b="1" u="sng" spc="598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電腦2D遊戲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多人遊戲(4-5</a:t>
            </a:r>
            <a:r>
              <a:rPr lang="zh-TW" alt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</a:t>
            </a: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鬼抓人、解任務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65085" y="3263900"/>
            <a:ext cx="8001635" cy="405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lang="en-US" sz="4400" b="1" u="sng" spc="499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操作方式</a:t>
            </a:r>
            <a:r>
              <a:rPr lang="en-US" sz="4400" b="1" u="sng" spc="49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:</a:t>
            </a:r>
            <a:endParaRPr lang="en-US" sz="4400" b="1" u="sng" spc="49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鍵盤WASD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角色移動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空白鍵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掙脫魚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懲罰人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滑鼠點擊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清垃圾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抓人類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使用道具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602855" y="7479030"/>
            <a:ext cx="6674485" cy="549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(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製作與測試時，有問題會修改</a:t>
            </a:r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endParaRPr lang="en-US" altLang="zh-TW" sz="280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614045" y="1767840"/>
            <a:ext cx="17059910" cy="79540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Box 2"/>
          <p:cNvSpPr txBox="1"/>
          <p:nvPr/>
        </p:nvSpPr>
        <p:spPr>
          <a:xfrm>
            <a:off x="1574165" y="2544445"/>
            <a:ext cx="15139670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1.人類在時間內清完垃圾，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逃離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魚的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追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擊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。當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一位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人類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玩家被魚抓3次(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即生命數</a:t>
            </a:r>
            <a:r>
              <a:rPr lang="en-US" altLang="zh-TW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3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條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)，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那位玩家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會失去遊玩資格。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50000"/>
              </a:lnSpc>
            </a:pPr>
            <a:r>
              <a:rPr lang="en-US" sz="2800" b="1" spc="563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2.時間內清完垃圾，人類獲勝。如未在時間內清完，魚獲勝。可用道具延長遊戲時間或牽制魚的行動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50000"/>
              </a:lnSpc>
            </a:pPr>
            <a:r>
              <a:rPr lang="en-US" sz="2800" b="1" spc="563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3.魚要到處抓人類玩家，使用技能處罰人類，讓場內全玩家失去遊戲資格，即魚獲勝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 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776115"/>
            <a:ext cx="5841575" cy="1478740"/>
            <a:chOff x="0" y="0"/>
            <a:chExt cx="1538522" cy="389462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98340" y="948447"/>
            <a:ext cx="2844895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遊戲規則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0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78327"/>
            <a:ext cx="5841575" cy="147874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997787" y="201201"/>
              <a:ext cx="3793194" cy="132757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玩法介紹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4935" y="2870200"/>
            <a:ext cx="15517495" cy="3901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人類方在地圖中尋找垃圾並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左鍵</a:t>
            </a:r>
            <a:r>
              <a:rPr lang="en-US" altLang="zh-TW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2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次</a:t>
            </a: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點擊清理。遊戲中要和魚保持距離，在時間內清完垃圾(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地圖中生成</a:t>
            </a:r>
            <a:r>
              <a:rPr lang="en-US" altLang="zh-TW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40~60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個</a:t>
            </a: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)。</a:t>
            </a: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人類撿大型垃圾要經過小遊戲，例如:垃圾分類(遊玩畫面為小視窗)</a:t>
            </a:r>
            <a:endParaRPr lang="en-US" sz="3200" b="1" spc="597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00000"/>
              </a:lnSpc>
            </a:pPr>
            <a:r>
              <a:rPr 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魚方在地圖中追人類並靠近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，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點擊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介面的</a:t>
            </a:r>
            <a:r>
              <a:rPr lang="zh-TW" alt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「罰</a:t>
            </a:r>
            <a:r>
              <a:rPr lang="en-US" altLang="zh-TW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!</a:t>
            </a:r>
            <a:r>
              <a:rPr lang="zh-TW" alt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」按鈕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懲罰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人類</a:t>
            </a:r>
            <a:r>
              <a:rPr 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</a:t>
            </a:r>
            <a:endParaRPr lang="en-US" sz="3200" b="1" spc="637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384935" y="7166610"/>
            <a:ext cx="6440170" cy="549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>
                <a:latin typeface="標楷體" panose="03000509000000000000" charset="-120"/>
                <a:ea typeface="標楷體" panose="03000509000000000000" charset="-120"/>
              </a:rPr>
              <a:t>‧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遊戲一局遊玩時間約</a:t>
            </a:r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5~10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分鐘</a:t>
            </a:r>
            <a:endParaRPr lang="zh-TW" altLang="en-US" sz="280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8170545" y="2076450"/>
            <a:ext cx="1944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主選單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936230" y="736995"/>
            <a:ext cx="2412000" cy="7467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開場動畫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936500" y="3911975"/>
            <a:ext cx="2411095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多人遊戲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36865" y="5028350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開始遊戲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59450" y="6291580"/>
            <a:ext cx="6768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撿垃圾、逃離大魚 / 魚追人類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207760" y="7648970"/>
            <a:ext cx="1944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人類贏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114280" y="7648970"/>
            <a:ext cx="1620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魚贏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938135" y="8920220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結算畫面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5047595" y="1944745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結束遊戲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1306445" y="3911975"/>
            <a:ext cx="241173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遊戲教學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796030" y="5028305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選擇外觀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29" name="直線單箭頭接點 28"/>
          <p:cNvCxnSpPr>
            <a:stCxn id="4" idx="2"/>
            <a:endCxn id="11" idx="0"/>
          </p:cNvCxnSpPr>
          <p:nvPr/>
        </p:nvCxnSpPr>
        <p:spPr>
          <a:xfrm>
            <a:off x="9142095" y="1483995"/>
            <a:ext cx="635" cy="592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5" idx="1"/>
          </p:cNvCxnSpPr>
          <p:nvPr/>
        </p:nvCxnSpPr>
        <p:spPr>
          <a:xfrm flipH="1">
            <a:off x="6191885" y="4254500"/>
            <a:ext cx="1744345" cy="77406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9144000" y="3162300"/>
            <a:ext cx="3352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1" idx="2"/>
          </p:cNvCxnSpPr>
          <p:nvPr/>
        </p:nvCxnSpPr>
        <p:spPr>
          <a:xfrm>
            <a:off x="9142730" y="2796540"/>
            <a:ext cx="1270" cy="1115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23" idx="0"/>
          </p:cNvCxnSpPr>
          <p:nvPr/>
        </p:nvCxnSpPr>
        <p:spPr>
          <a:xfrm>
            <a:off x="12496800" y="3162300"/>
            <a:ext cx="15240" cy="74993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10114280" y="2232660"/>
            <a:ext cx="4933315" cy="184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8610600" y="2857500"/>
            <a:ext cx="0" cy="1066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10114280" y="2597150"/>
            <a:ext cx="2915920" cy="3175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3016865" y="2626995"/>
            <a:ext cx="0" cy="1285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6" idx="2"/>
            <a:endCxn id="17" idx="0"/>
          </p:cNvCxnSpPr>
          <p:nvPr/>
        </p:nvCxnSpPr>
        <p:spPr>
          <a:xfrm>
            <a:off x="9142730" y="5712460"/>
            <a:ext cx="635" cy="5791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7" idx="2"/>
          </p:cNvCxnSpPr>
          <p:nvPr/>
        </p:nvCxnSpPr>
        <p:spPr>
          <a:xfrm flipH="1">
            <a:off x="8153400" y="7011670"/>
            <a:ext cx="989965" cy="64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9142095" y="7011670"/>
            <a:ext cx="992505" cy="64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19" idx="2"/>
          </p:cNvCxnSpPr>
          <p:nvPr/>
        </p:nvCxnSpPr>
        <p:spPr>
          <a:xfrm flipH="1">
            <a:off x="10347960" y="8333105"/>
            <a:ext cx="576580" cy="5873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18" idx="2"/>
          </p:cNvCxnSpPr>
          <p:nvPr/>
        </p:nvCxnSpPr>
        <p:spPr>
          <a:xfrm>
            <a:off x="7179945" y="8333105"/>
            <a:ext cx="756285" cy="598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819400" y="2476500"/>
            <a:ext cx="5334000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4" idx="3"/>
            <a:endCxn id="16" idx="1"/>
          </p:cNvCxnSpPr>
          <p:nvPr/>
        </p:nvCxnSpPr>
        <p:spPr>
          <a:xfrm>
            <a:off x="6207760" y="5370830"/>
            <a:ext cx="17291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2819400" y="2476500"/>
            <a:ext cx="0" cy="67818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2819400" y="9258300"/>
            <a:ext cx="5116830" cy="4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endCxn id="23" idx="1"/>
          </p:cNvCxnSpPr>
          <p:nvPr/>
        </p:nvCxnSpPr>
        <p:spPr>
          <a:xfrm>
            <a:off x="10349865" y="4254500"/>
            <a:ext cx="95631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-8255" y="649605"/>
            <a:ext cx="3744000" cy="1152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lang="zh-TW" altLang="en-US" sz="5600" b="1">
                <a:latin typeface="微軟正黑體" panose="020B0604030504040204" charset="-120"/>
                <a:ea typeface="微軟正黑體" panose="020B0604030504040204" charset="-120"/>
              </a:rPr>
              <a:t>流程圖</a:t>
            </a:r>
            <a:endParaRPr lang="zh-TW" altLang="en-US" sz="56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631121" y="232142"/>
              <a:ext cx="4525836" cy="136328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角色設計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79550" y="4000500"/>
            <a:ext cx="4677410" cy="2560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sz="4800" b="1" spc="214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大魚:</a:t>
            </a:r>
            <a:endParaRPr lang="en-US" sz="4800" b="1" spc="214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lvl="0" algn="l" fontAlgn="auto">
              <a:lnSpc>
                <a:spcPct val="150000"/>
              </a:lnSpc>
              <a:spcBef>
                <a:spcPct val="0"/>
              </a:spcBef>
            </a:pPr>
            <a:r>
              <a:rPr lang="zh-TW" altLang="en-US" sz="3200" b="1" spc="214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長相兇惡、長腳、身體有傷，移動速度比人快</a:t>
            </a:r>
            <a:endParaRPr lang="zh-TW" altLang="en-US" sz="3200" b="1" spc="214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pic>
        <p:nvPicPr>
          <p:cNvPr id="7" name="圖片 6" descr="Fish-Run-side-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960" y="2807970"/>
            <a:ext cx="6316345" cy="5764530"/>
          </a:xfrm>
          <a:prstGeom prst="rect">
            <a:avLst/>
          </a:prstGeom>
        </p:spPr>
      </p:pic>
      <p:pic>
        <p:nvPicPr>
          <p:cNvPr id="12" name="圖片 11" descr="Fish-Run-Up-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899265" y="2630805"/>
            <a:ext cx="6063615" cy="61188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631121" y="232142"/>
              <a:ext cx="4525836" cy="136328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角色設計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10" name="圖片 9" descr="人類三視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2270" y="5260340"/>
            <a:ext cx="6214745" cy="43942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810895" y="2350770"/>
            <a:ext cx="11110595" cy="2011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人類: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各個玩家可以選職業，各個職業有特殊技能ex.漁民:游刃有漁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&gt;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在湖中移動快一點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(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其餘還在設定中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endParaRPr lang="en-US" altLang="zh-TW" sz="28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321550" y="4658995"/>
            <a:ext cx="2496185" cy="484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人類角色三視圖</a:t>
            </a:r>
            <a:r>
              <a:rPr lang="en-US" altLang="zh-TW" sz="2400" b="1">
                <a:latin typeface="微軟正黑體" panose="020B0604030504040204" charset="-120"/>
                <a:ea typeface="微軟正黑體" panose="020B0604030504040204" charset="-120"/>
              </a:rPr>
              <a:t>:</a:t>
            </a:r>
            <a:endParaRPr lang="en-US" altLang="zh-TW" sz="24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9" name="圖片 8" descr="NPC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5420" y="1772285"/>
            <a:ext cx="4290695" cy="7987665"/>
          </a:xfrm>
          <a:prstGeom prst="rect">
            <a:avLst/>
          </a:prstGeom>
        </p:spPr>
      </p:pic>
      <p:pic>
        <p:nvPicPr>
          <p:cNvPr id="13" name="圖片 12" descr="裝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" y="5906770"/>
            <a:ext cx="3341370" cy="3299460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1538605" y="5422265"/>
            <a:ext cx="2089150" cy="4845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職業頭像裝飾</a:t>
            </a:r>
            <a:r>
              <a:rPr lang="en-US" altLang="zh-TW" sz="24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:</a:t>
            </a:r>
            <a:endParaRPr lang="en-US" altLang="zh-TW" sz="2400" b="1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3402310" y="1466215"/>
            <a:ext cx="2496185" cy="484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遊戲中</a:t>
            </a:r>
            <a:r>
              <a:rPr lang="en-US" altLang="zh-TW" sz="2400" b="1">
                <a:latin typeface="微軟正黑體" panose="020B0604030504040204" charset="-120"/>
                <a:ea typeface="微軟正黑體" panose="020B0604030504040204" charset="-120"/>
              </a:rPr>
              <a:t>:</a:t>
            </a:r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俯視角度</a:t>
            </a:r>
            <a:endParaRPr lang="zh-TW" altLang="en-US" sz="24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道具02"/>
          <p:cNvPicPr>
            <a:picLocks noChangeAspect="1"/>
          </p:cNvPicPr>
          <p:nvPr/>
        </p:nvPicPr>
        <p:blipFill>
          <a:blip r:embed="rId1"/>
          <a:srcRect r="35" b="3"/>
          <a:stretch>
            <a:fillRect/>
          </a:stretch>
        </p:blipFill>
        <p:spPr>
          <a:xfrm>
            <a:off x="668655" y="2734310"/>
            <a:ext cx="4742180" cy="4267835"/>
          </a:xfrm>
          <a:prstGeom prst="rect">
            <a:avLst/>
          </a:prstGeom>
        </p:spPr>
      </p:pic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32142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道具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913130" y="7002145"/>
            <a:ext cx="4710430" cy="110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布鞋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=加快移動速度5秒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少量生成在地圖中</a:t>
            </a:r>
            <a:endParaRPr lang="zh-TW" altLang="en-US" sz="3200" dirty="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10" name="圖片 9" descr="道具02"/>
          <p:cNvPicPr>
            <a:picLocks noChangeAspect="1"/>
          </p:cNvPicPr>
          <p:nvPr/>
        </p:nvPicPr>
        <p:blipFill>
          <a:blip r:embed="rId2"/>
          <a:srcRect l="55" t="35" r="37" b="34"/>
          <a:stretch>
            <a:fillRect/>
          </a:stretch>
        </p:blipFill>
        <p:spPr>
          <a:xfrm>
            <a:off x="6626860" y="3109595"/>
            <a:ext cx="4396105" cy="3883025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6231255" y="7002145"/>
            <a:ext cx="5339715" cy="1103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時鐘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=能加10 秒時間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生成在地圖中(一場0~2 個)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21" name="圖片 20" descr="道具01"/>
          <p:cNvPicPr>
            <a:picLocks noChangeAspect="1"/>
          </p:cNvPicPr>
          <p:nvPr/>
        </p:nvPicPr>
        <p:blipFill>
          <a:blip r:embed="rId3"/>
          <a:srcRect l="5" t="32" r="46" b="31"/>
          <a:stretch>
            <a:fillRect/>
          </a:stretch>
        </p:blipFill>
        <p:spPr>
          <a:xfrm>
            <a:off x="12325985" y="1068705"/>
            <a:ext cx="5014595" cy="6342380"/>
          </a:xfrm>
          <a:prstGeom prst="rect">
            <a:avLst/>
          </a:prstGeom>
        </p:spPr>
      </p:pic>
      <p:sp>
        <p:nvSpPr>
          <p:cNvPr id="22" name="文字方塊 21"/>
          <p:cNvSpPr txBox="1"/>
          <p:nvPr/>
        </p:nvSpPr>
        <p:spPr>
          <a:xfrm>
            <a:off x="12459335" y="7411085"/>
            <a:ext cx="5106035" cy="159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美人魚照片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=能夠讓魚停在原地5秒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生成湖中，只有兩張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32145" y="1186180"/>
            <a:ext cx="5930900" cy="533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r>
              <a:rPr lang="zh-TW" altLang="en-US" sz="2000" dirty="0" err="1">
                <a:solidFill>
                  <a:srgbClr val="000000"/>
                </a:solidFill>
                <a:latin typeface="標楷體" panose="03000509000000000000" charset="-120"/>
                <a:ea typeface="標楷體" panose="03000509000000000000" charset="-120"/>
                <a:cs typeface="Noto Sans T Chinese" panose="020B0500000000000000"/>
                <a:sym typeface="Noto Sans T Chinese" panose="020B0500000000000000"/>
              </a:rPr>
              <a:t>‧</a:t>
            </a:r>
            <a:r>
              <a:rPr sz="200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螢幕右下有道具欄，撿到後點圖示1次即可使用。</a:t>
            </a:r>
            <a:endParaRPr sz="200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0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76849"/>
            <a:ext cx="5841575" cy="147874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480820" y="249767"/>
              <a:ext cx="4826847" cy="1329266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魚的技能</a:t>
              </a:r>
              <a:endParaRPr lang="zh-TW" altLang="en-US" sz="60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751840" y="7616825"/>
            <a:ext cx="9531350" cy="1103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TW" sz="3200">
                <a:latin typeface="微軟正黑體" panose="020B0604030504040204" charset="-120"/>
                <a:ea typeface="微軟正黑體" panose="020B0604030504040204" charset="-120"/>
              </a:rPr>
              <a:t>3.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</a:rPr>
              <a:t>提示人類位置(60 秒能使用一次，提示時間8 秒)，在介面中有箭頭，提示離最近的玩家方位。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18" name="圖片 17" descr="遊戲介面"/>
          <p:cNvPicPr>
            <a:picLocks noChangeAspect="1"/>
          </p:cNvPicPr>
          <p:nvPr/>
        </p:nvPicPr>
        <p:blipFill>
          <a:blip r:embed="rId1"/>
          <a:srcRect l="9" t="223" r="176" b="268"/>
          <a:stretch>
            <a:fillRect/>
          </a:stretch>
        </p:blipFill>
        <p:spPr>
          <a:xfrm>
            <a:off x="2286635" y="3979545"/>
            <a:ext cx="3404235" cy="2327910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751840" y="3095625"/>
            <a:ext cx="7827645" cy="549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1.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按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「罰」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攻擊人類後會有冷卻時間(暫定10 秒)</a:t>
            </a:r>
            <a:endParaRPr lang="zh-TW" altLang="en-US" sz="28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23" name="圖片 22" descr="道具02"/>
          <p:cNvPicPr>
            <a:picLocks noChangeAspect="1"/>
          </p:cNvPicPr>
          <p:nvPr/>
        </p:nvPicPr>
        <p:blipFill>
          <a:blip r:embed="rId2"/>
          <a:srcRect l="2" t="72" r="26" b="69"/>
          <a:stretch>
            <a:fillRect/>
          </a:stretch>
        </p:blipFill>
        <p:spPr>
          <a:xfrm>
            <a:off x="11779885" y="3645535"/>
            <a:ext cx="3926205" cy="3468370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9963785" y="3095625"/>
            <a:ext cx="7762240" cy="549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2.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口水=人類玩家困在原地5 秒</a:t>
            </a:r>
            <a:r>
              <a:rPr lang="zh-TW" altLang="en-US" sz="28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冷卻時間20 秒</a:t>
            </a:r>
            <a:endParaRPr lang="zh-TW" altLang="en-US" sz="28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26896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場景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787400" y="3871595"/>
            <a:ext cx="4573905" cy="3505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200000"/>
              </a:lnSpc>
            </a:pP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  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人和魚能穿過湖，草叢和樹能躲藏(人在湖中移動較慢；魚會變快)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just">
              <a:lnSpc>
                <a:spcPct val="200000"/>
              </a:lnSpc>
            </a:pP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 地圖1:公園 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(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示意圖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endParaRPr lang="en-US" altLang="zh-TW" sz="28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3" name="圖片 2" descr="2025-12-30_010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365" y="2954655"/>
            <a:ext cx="11849100" cy="5339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14605" y="538625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主畫面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2" name="圖片 1" descr="遊戲開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75" y="2431415"/>
            <a:ext cx="12540615" cy="7051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2" name="圖片 1" descr="你的段落文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970" y="2608580"/>
            <a:ext cx="12000865" cy="674751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28675" y="3501390"/>
            <a:ext cx="399351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200000"/>
              </a:lnSpc>
            </a:pP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  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房主需設定一段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4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字數字碼，邀請夥伴遊玩。確認人數到齊後，系統會隨機選一位玩家扮演大魚，其餘就是人類。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cxnSp>
        <p:nvCxnSpPr>
          <p:cNvPr id="5" name="直線單箭頭接點 4"/>
          <p:cNvCxnSpPr/>
          <p:nvPr/>
        </p:nvCxnSpPr>
        <p:spPr>
          <a:xfrm>
            <a:off x="14853920" y="5143500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14853920" y="8129270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5828010" y="4465320"/>
            <a:ext cx="2065655" cy="135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技能</a:t>
            </a:r>
            <a:r>
              <a:rPr lang="en-US" altLang="zh-TW" sz="4000">
                <a:latin typeface="微軟正黑體" panose="020B0604030504040204" charset="-120"/>
                <a:ea typeface="微軟正黑體" panose="020B0604030504040204" charset="-120"/>
              </a:rPr>
              <a:t>/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</a:endParaRPr>
          </a:p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道具</a:t>
            </a:r>
            <a:endParaRPr lang="zh-TW" altLang="en-US" sz="40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5828010" y="7576185"/>
            <a:ext cx="2065655" cy="135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技能</a:t>
            </a:r>
            <a:r>
              <a:rPr lang="en-US" altLang="zh-TW" sz="40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/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懲罰鈕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>
            <a:off x="1694180" y="3451860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375285" y="3674110"/>
            <a:ext cx="2077085" cy="1229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遊戲時間倒數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2" name="圖片 1" descr="垃圾收集數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2755265"/>
            <a:ext cx="11762105" cy="661352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2321540" y="1797685"/>
            <a:ext cx="3036570" cy="680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垃圾收集總數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12065635" y="1768475"/>
            <a:ext cx="38100" cy="739775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5910580" y="1496060"/>
            <a:ext cx="4392930" cy="484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400">
                <a:latin typeface="SimSun" panose="02010600030101010101" charset="-122"/>
                <a:ea typeface="SimSun" panose="02010600030101010101" charset="-122"/>
              </a:rPr>
              <a:t>※</a:t>
            </a:r>
            <a:r>
              <a:rPr lang="zh-TW" altLang="en-US" sz="2400">
                <a:latin typeface="微軟正黑體" panose="020B0604030504040204" charset="-120"/>
                <a:ea typeface="微軟正黑體" panose="020B0604030504040204" charset="-120"/>
              </a:rPr>
              <a:t>此為人類玩家介面</a:t>
            </a:r>
            <a:endParaRPr lang="zh-TW" altLang="en-US" sz="24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8" name="心形 17"/>
          <p:cNvSpPr/>
          <p:nvPr/>
        </p:nvSpPr>
        <p:spPr>
          <a:xfrm>
            <a:off x="6705600" y="3848100"/>
            <a:ext cx="76200" cy="762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19" name="心形 18"/>
          <p:cNvSpPr/>
          <p:nvPr/>
        </p:nvSpPr>
        <p:spPr>
          <a:xfrm>
            <a:off x="5782945" y="3246755"/>
            <a:ext cx="606425" cy="601345"/>
          </a:xfrm>
          <a:prstGeom prst="heart">
            <a:avLst/>
          </a:prstGeom>
          <a:gradFill>
            <a:gsLst>
              <a:gs pos="0">
                <a:srgbClr val="FE4444"/>
              </a:gs>
              <a:gs pos="95000">
                <a:srgbClr val="832B2B"/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20" name="心形 19"/>
          <p:cNvSpPr/>
          <p:nvPr/>
        </p:nvSpPr>
        <p:spPr>
          <a:xfrm>
            <a:off x="6611620" y="3246755"/>
            <a:ext cx="606425" cy="601345"/>
          </a:xfrm>
          <a:prstGeom prst="heart">
            <a:avLst/>
          </a:prstGeom>
          <a:gradFill>
            <a:gsLst>
              <a:gs pos="0">
                <a:srgbClr val="FE4444"/>
              </a:gs>
              <a:gs pos="95000">
                <a:srgbClr val="832B2B"/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21" name="心形 20"/>
          <p:cNvSpPr/>
          <p:nvPr/>
        </p:nvSpPr>
        <p:spPr>
          <a:xfrm>
            <a:off x="7396480" y="3246755"/>
            <a:ext cx="606425" cy="601345"/>
          </a:xfrm>
          <a:prstGeom prst="heart">
            <a:avLst/>
          </a:prstGeom>
          <a:gradFill>
            <a:gsLst>
              <a:gs pos="0">
                <a:srgbClr val="FE4444"/>
              </a:gs>
              <a:gs pos="95000">
                <a:srgbClr val="832B2B"/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3" name="文字方塊 2"/>
          <p:cNvSpPr txBox="1"/>
          <p:nvPr/>
        </p:nvSpPr>
        <p:spPr>
          <a:xfrm>
            <a:off x="8361680" y="1544955"/>
            <a:ext cx="8369300" cy="680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魚被人使用照片時，魚的介面被佔據</a:t>
            </a:r>
            <a:r>
              <a:rPr lang="en-US" altLang="zh-TW" sz="3600">
                <a:latin typeface="微軟正黑體" panose="020B0604030504040204" charset="-120"/>
                <a:ea typeface="微軟正黑體" panose="020B0604030504040204" charset="-120"/>
              </a:rPr>
              <a:t>5</a:t>
            </a:r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秒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 flipV="1">
            <a:off x="8093075" y="1366520"/>
            <a:ext cx="3175" cy="96012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片 1" descr="遊戲介面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0" y="2722880"/>
            <a:ext cx="12256135" cy="6891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3" name="文字方塊 2"/>
          <p:cNvSpPr txBox="1"/>
          <p:nvPr/>
        </p:nvSpPr>
        <p:spPr>
          <a:xfrm>
            <a:off x="8361680" y="1778000"/>
            <a:ext cx="8369300" cy="179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200000"/>
              </a:lnSpc>
            </a:pP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人類撿大型垃圾要經過小遊戲，例如:垃圾分類(遊玩畫面為小視窗)</a:t>
            </a:r>
            <a:endParaRPr lang="zh-TW" altLang="en-US" sz="28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 flipV="1">
            <a:off x="7976870" y="2326005"/>
            <a:ext cx="3175" cy="96012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 descr="小視窗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655" y="3923665"/>
            <a:ext cx="7837805" cy="4407535"/>
          </a:xfrm>
          <a:prstGeom prst="rect">
            <a:avLst/>
          </a:prstGeom>
        </p:spPr>
      </p:pic>
      <p:pic>
        <p:nvPicPr>
          <p:cNvPr id="6" name="圖片 5" descr="小視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40" y="3923665"/>
            <a:ext cx="7725410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結算畫面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4" name="圖片 3" descr="清湖成功!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8145" y="3131185"/>
            <a:ext cx="8699500" cy="4892040"/>
          </a:xfrm>
          <a:prstGeom prst="rect">
            <a:avLst/>
          </a:prstGeom>
        </p:spPr>
      </p:pic>
      <p:pic>
        <p:nvPicPr>
          <p:cNvPr id="5" name="圖片 4" descr="清湖成功!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3131185"/>
            <a:ext cx="86995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19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07228"/>
            <a:ext cx="5841575" cy="1296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997787" y="121985"/>
              <a:ext cx="3793194" cy="1514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 dirty="0" err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參考遊戲</a:t>
              </a:r>
              <a:endParaRPr lang="en-US" sz="56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498600" y="3284220"/>
            <a:ext cx="6987540" cy="3953510"/>
          </a:xfrm>
          <a:custGeom>
            <a:avLst/>
            <a:gdLst/>
            <a:ahLst/>
            <a:cxnLst/>
            <a:rect l="l" t="t" r="r" b="b"/>
            <a:pathLst>
              <a:path w="7446975" h="4226158">
                <a:moveTo>
                  <a:pt x="0" y="0"/>
                </a:moveTo>
                <a:lnTo>
                  <a:pt x="7446975" y="0"/>
                </a:lnTo>
                <a:lnTo>
                  <a:pt x="7446975" y="4226159"/>
                </a:lnTo>
                <a:lnTo>
                  <a:pt x="0" y="422615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48850" y="3284220"/>
            <a:ext cx="6915785" cy="3963035"/>
          </a:xfrm>
          <a:custGeom>
            <a:avLst/>
            <a:gdLst/>
            <a:ahLst/>
            <a:cxnLst/>
            <a:rect l="l" t="t" r="r" b="b"/>
            <a:pathLst>
              <a:path w="7374826" h="4226158">
                <a:moveTo>
                  <a:pt x="0" y="0"/>
                </a:moveTo>
                <a:lnTo>
                  <a:pt x="7374826" y="0"/>
                </a:lnTo>
                <a:lnTo>
                  <a:pt x="7374826" y="4226158"/>
                </a:lnTo>
                <a:lnTo>
                  <a:pt x="0" y="4226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5045" y="7502525"/>
            <a:ext cx="5029835" cy="1186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200" spc="409">
                <a:solidFill>
                  <a:srgbClr val="000000"/>
                </a:solidFill>
                <a:latin typeface="王漢宗特黑體" panose="02000500000000000000"/>
                <a:ea typeface="王漢宗特黑體" panose="02000500000000000000"/>
                <a:cs typeface="王漢宗特黑體" panose="02000500000000000000"/>
                <a:sym typeface="王漢宗特黑體" panose="02000500000000000000"/>
              </a:rPr>
              <a:t>AMONG US</a:t>
            </a:r>
            <a:endParaRPr lang="en-US" sz="3200" spc="409">
              <a:solidFill>
                <a:srgbClr val="000000"/>
              </a:solidFill>
              <a:latin typeface="王漢宗特黑體" panose="02000500000000000000"/>
              <a:ea typeface="王漢宗特黑體" panose="02000500000000000000"/>
              <a:cs typeface="王漢宗特黑體" panose="02000500000000000000"/>
              <a:sym typeface="王漢宗特黑體" panose="02000500000000000000"/>
            </a:endParaRPr>
          </a:p>
          <a:p>
            <a:pPr algn="ctr" fontAlgn="auto">
              <a:lnSpc>
                <a:spcPct val="100000"/>
              </a:lnSpc>
              <a:spcBef>
                <a:spcPts val="600"/>
              </a:spcBef>
            </a:pPr>
            <a:r>
              <a:rPr lang="en-US" sz="3200" b="1" spc="409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參考2D遊戲介面</a:t>
            </a:r>
            <a:endParaRPr lang="en-US" sz="3200" b="1" spc="409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98530" y="7569835"/>
            <a:ext cx="4594860" cy="105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542" dirty="0" err="1">
                <a:solidFill>
                  <a:srgbClr val="000000"/>
                </a:solidFill>
                <a:latin typeface="王漢宗特黑體" panose="02000500000000000000"/>
                <a:ea typeface="王漢宗特黑體" panose="02000500000000000000"/>
                <a:cs typeface="王漢宗特黑體" panose="02000500000000000000"/>
                <a:sym typeface="王漢宗特黑體" panose="02000500000000000000"/>
              </a:rPr>
              <a:t>黎明死線</a:t>
            </a:r>
            <a:endParaRPr lang="en-US" sz="3200" spc="542" dirty="0" err="1">
              <a:solidFill>
                <a:srgbClr val="000000"/>
              </a:solidFill>
              <a:latin typeface="王漢宗特黑體" panose="02000500000000000000"/>
              <a:ea typeface="王漢宗特黑體" panose="02000500000000000000"/>
              <a:cs typeface="王漢宗特黑體" panose="02000500000000000000"/>
              <a:sym typeface="王漢宗特黑體" panose="02000500000000000000"/>
            </a:endParaRPr>
          </a:p>
          <a:p>
            <a:pPr algn="ctr" fontAlgn="auto">
              <a:lnSpc>
                <a:spcPct val="100000"/>
              </a:lnSpc>
              <a:spcBef>
                <a:spcPts val="600"/>
              </a:spcBef>
            </a:pPr>
            <a:r>
              <a:rPr lang="en-US" sz="3200" b="1" spc="542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參考遊戲玩法</a:t>
            </a:r>
            <a:endParaRPr lang="en-US" sz="3200" b="1" spc="542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62580" y="1957705"/>
            <a:ext cx="12573000" cy="7364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grpSp>
        <p:nvGrpSpPr>
          <p:cNvPr id="3" name="群組 2"/>
          <p:cNvGrpSpPr/>
          <p:nvPr/>
        </p:nvGrpSpPr>
        <p:grpSpPr>
          <a:xfrm>
            <a:off x="-13970" y="510540"/>
            <a:ext cx="5883910" cy="848360"/>
            <a:chOff x="-250" y="1492"/>
            <a:chExt cx="9266" cy="1336"/>
          </a:xfrm>
        </p:grpSpPr>
        <p:grpSp>
          <p:nvGrpSpPr>
            <p:cNvPr id="4" name="Group 3"/>
            <p:cNvGrpSpPr/>
            <p:nvPr/>
          </p:nvGrpSpPr>
          <p:grpSpPr>
            <a:xfrm>
              <a:off x="-250" y="1528"/>
              <a:ext cx="9267" cy="1301"/>
              <a:chOff x="0" y="0"/>
              <a:chExt cx="1538522" cy="389462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lIns="50800" tIns="50800" rIns="50800" bIns="50800" rtlCol="0" anchor="ctr"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solidFill>
                <a:srgbClr val="FFFFFF">
                  <a:alpha val="68627"/>
                </a:srgbClr>
              </a:solidFill>
            </p:spPr>
          </p:sp>
        </p:grpSp>
        <p:sp>
          <p:nvSpPr>
            <p:cNvPr id="2" name="文字方塊 1"/>
            <p:cNvSpPr txBox="1"/>
            <p:nvPr/>
          </p:nvSpPr>
          <p:spPr>
            <a:xfrm>
              <a:off x="1669" y="1492"/>
              <a:ext cx="5429" cy="1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TW" altLang="en-US" sz="4400" b="1">
                  <a:latin typeface="微軟正黑體" panose="020B0604030504040204" charset="-120"/>
                  <a:ea typeface="微軟正黑體" panose="020B0604030504040204" charset="-120"/>
                </a:rPr>
                <a:t>進度表</a:t>
              </a:r>
              <a:endParaRPr lang="zh-TW" altLang="en-US" sz="4400" b="1">
                <a:latin typeface="微軟正黑體" panose="020B0604030504040204" charset="-120"/>
                <a:ea typeface="微軟正黑體" panose="020B0604030504040204" charset="-120"/>
              </a:endParaRPr>
            </a:p>
          </p:txBody>
        </p:sp>
      </p:grpSp>
      <p:graphicFrame>
        <p:nvGraphicFramePr>
          <p:cNvPr id="0" name="圓桌 -1"/>
          <p:cNvGraphicFramePr/>
          <p:nvPr/>
        </p:nvGraphicFramePr>
        <p:xfrm>
          <a:off x="2852420" y="1957705"/>
          <a:ext cx="12583160" cy="7364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1950"/>
                <a:gridCol w="3887470"/>
                <a:gridCol w="4243705"/>
                <a:gridCol w="2820035"/>
              </a:tblGrid>
              <a:tr h="2946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週數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程式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美術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音效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684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15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000" b="0" u="none">
                          <a:highlight>
                            <a:srgbClr val="FEF2CC"/>
                          </a:highlight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討論行程與分工</a:t>
                      </a:r>
                      <a:endParaRPr lang="zh-TW" altLang="en-US" sz="2000" b="0" u="none">
                        <a:highlight>
                          <a:srgbClr val="FEF2CC"/>
                        </a:highlight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2CC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366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Calibri" panose="020F0502020204030204" charset="0"/>
                        </a:rPr>
                        <a:t>15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Calibri" panose="020F0502020204030204" charset="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Unity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主選單流程（開始 ＞遊戲＞離開）測試遊玩時鍵盤操作</a:t>
                      </a:r>
                      <a:r>
                        <a:rPr lang="zh-TW" altLang="en-US" sz="2000" b="0" u="none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 </a:t>
                      </a:r>
                      <a:endParaRPr lang="zh-TW" altLang="en-US" sz="2000" b="0" u="none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繪製地圖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草稿大魚跑步動畫小視窗遊戲繪製（第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、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2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款）</a:t>
                      </a:r>
                      <a:r>
                        <a:rPr lang="zh-TW" altLang="en-US" sz="2000" b="0" u="none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 </a:t>
                      </a:r>
                      <a:endParaRPr lang="zh-TW" altLang="en-US" sz="2000" b="0" u="none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背景音樂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16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小視窗遊戲發想（第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3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、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4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款）</a:t>
                      </a:r>
                      <a:r>
                        <a:rPr lang="zh-TW" altLang="en-US" sz="2000" b="0" u="none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 </a:t>
                      </a:r>
                      <a:endParaRPr lang="zh-TW" altLang="en-US" sz="2000" b="0" u="none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完成地圖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修改遊戲操作介面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音效設計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17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17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人物角色：撿起物品研究多人連線方法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人物角色：撿起物品動畫、人死亡圖示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音樂音效修改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86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18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地圖放到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unity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設置地圖邊界與空氣牆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人物角色：走動動作與動畫繪製小物件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垃圾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)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角色和背景移動垃圾隨機生成程式</a:t>
                      </a:r>
                      <a:r>
                        <a:rPr lang="zh-TW" altLang="en-US" sz="2000" b="0" u="none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TW" altLang="en-US" sz="2000" b="0" u="none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2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草稿小視窗遊戲的道具繪製 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86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2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怪物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魚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)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的技能使用程式人類角色道具使用效果，加速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-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加時間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完成地圖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2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怪物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魚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)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的技能演示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音樂音效修改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86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3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小視窗遊戲遊玩與關閉程式人玩家死亡後不能動程式測試多人連線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3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草稿魚和人技能互動圖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魚打人、魚看照片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)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849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4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分數統計遊戲結束後轉結算畫面程式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完成地圖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3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結算畫面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類似報紙排版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)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75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5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結算紀錄切換畫面程式（例如從遊戲回主選單） 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地圖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4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草稿測試遊戲，及修改設計網站音樂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: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確認音效後加入遊戲中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 </a:t>
                      </a:r>
                      <a:endParaRPr lang="en-US" altLang="zh-TW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寒假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6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000" b="0" u="none">
                          <a:highlight>
                            <a:srgbClr val="FEF2CC"/>
                          </a:highlight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修改簡報、企劃書</a:t>
                      </a:r>
                      <a:endParaRPr lang="zh-TW" altLang="en-US" sz="2000" b="0" u="none">
                        <a:highlight>
                          <a:srgbClr val="FEF2CC"/>
                        </a:highlight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2CC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7213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下學期第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1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周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遊戲雛形</a:t>
                      </a:r>
                      <a:r>
                        <a:rPr lang="en-US" altLang="zh-TW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(Demo)</a:t>
                      </a:r>
                      <a:r>
                        <a:rPr lang="zh-TW" altLang="en-US" sz="2000" b="0" u="none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</a:rPr>
                        <a:t>完成</a:t>
                      </a:r>
                      <a:endParaRPr lang="zh-TW" altLang="en-US" sz="2000" b="0" u="none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381750" y="1340485"/>
            <a:ext cx="5884545" cy="1348740"/>
            <a:chOff x="0" y="0"/>
            <a:chExt cx="1538522" cy="389462"/>
          </a:xfrm>
        </p:grpSpPr>
        <p:sp>
          <p:nvSpPr>
            <p:cNvPr id="6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</p:sp>
      </p:grpSp>
      <p:sp>
        <p:nvSpPr>
          <p:cNvPr id="2" name="文字方塊 1"/>
          <p:cNvSpPr txBox="1"/>
          <p:nvPr/>
        </p:nvSpPr>
        <p:spPr>
          <a:xfrm>
            <a:off x="7600315" y="1428115"/>
            <a:ext cx="3447415" cy="10744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TW" altLang="en-US" sz="6000" b="1">
                <a:latin typeface="微軟正黑體" panose="020B0604030504040204" charset="-120"/>
                <a:ea typeface="微軟正黑體" panose="020B0604030504040204" charset="-120"/>
              </a:rPr>
              <a:t>工作配置</a:t>
            </a:r>
            <a:endParaRPr lang="zh-TW" altLang="en-US" sz="6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2272665" y="3182620"/>
            <a:ext cx="6228715" cy="5051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 fontAlgn="auto">
              <a:lnSpc>
                <a:spcPct val="110000"/>
              </a:lnSpc>
              <a:spcBef>
                <a:spcPts val="1200"/>
              </a:spcBef>
            </a:pPr>
            <a:r>
              <a:rPr lang="en-US" altLang="zh-TW" sz="44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‧</a:t>
            </a:r>
            <a:r>
              <a:rPr lang="zh-TW" altLang="en-US" sz="44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程式組</a:t>
            </a:r>
            <a:endParaRPr lang="zh-TW" altLang="en-US" sz="4400" b="0" u="none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</a:endParaRPr>
          </a:p>
          <a:p>
            <a:pPr marL="0" indent="0" algn="l" fontAlgn="auto">
              <a:lnSpc>
                <a:spcPct val="110000"/>
              </a:lnSpc>
              <a:spcBef>
                <a:spcPts val="1200"/>
              </a:spcBef>
            </a:pPr>
            <a:r>
              <a:rPr lang="zh-TW" altLang="en-US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主程式</a:t>
            </a:r>
            <a:r>
              <a:rPr lang="en-US" altLang="zh-TW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:</a:t>
            </a:r>
            <a:r>
              <a:rPr lang="zh-TW" altLang="en-US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卓立凱</a:t>
            </a:r>
            <a:endParaRPr lang="zh-TW" altLang="en-US" sz="3600" b="0" u="none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</a:endParaRPr>
          </a:p>
          <a:p>
            <a:pPr marL="0" indent="0" algn="l" fontAlgn="auto">
              <a:lnSpc>
                <a:spcPct val="110000"/>
              </a:lnSpc>
              <a:spcBef>
                <a:spcPts val="1200"/>
              </a:spcBef>
            </a:pPr>
            <a:r>
              <a:rPr lang="en-US" altLang="zh-TW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UI</a:t>
            </a:r>
            <a:r>
              <a:rPr lang="zh-TW" altLang="en-US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介面：林安均角色與道具互動：卓立凱 小遊戲程式：曾子軒 等待大廳</a:t>
            </a:r>
            <a:r>
              <a:rPr lang="en-US" altLang="zh-TW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-</a:t>
            </a:r>
            <a:r>
              <a:rPr lang="zh-TW" altLang="en-US" sz="3600" b="0" u="none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</a:rPr>
              <a:t>多人聯機：卓立凱、曾子軒、林安均音樂與音效：林安均</a:t>
            </a:r>
            <a:endParaRPr lang="zh-TW" altLang="en-US" sz="3600" b="0" u="none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735185" y="3182620"/>
            <a:ext cx="6769735" cy="4843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0000"/>
              </a:lnSpc>
            </a:pPr>
            <a:r>
              <a:rPr lang="en-US" altLang="zh-TW" sz="4400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‧</a:t>
            </a:r>
            <a:r>
              <a:rPr lang="zh-TW" altLang="en-US" sz="4400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設計組</a:t>
            </a:r>
            <a:endParaRPr lang="zh-TW" altLang="en-US" sz="4400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  <a:sym typeface="+mn-ea"/>
            </a:endParaRPr>
          </a:p>
          <a:p>
            <a:pPr marL="0" indent="0" algn="l">
              <a:lnSpc>
                <a:spcPct val="120000"/>
              </a:lnSpc>
            </a:pPr>
            <a:r>
              <a:rPr lang="en-US" altLang="zh-TW" sz="3600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UI</a:t>
            </a:r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介面：羅羽岑角色與道具互動：余佳穎地圖：羅美欣等待大廳：羅羽岑 前置動畫：羅羽岑、余佳穎小遊戲畫面：羅美欣、羅羽岑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6042025" y="3398520"/>
            <a:ext cx="6553200" cy="3124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Box 2"/>
          <p:cNvSpPr txBox="1"/>
          <p:nvPr/>
        </p:nvSpPr>
        <p:spPr>
          <a:xfrm>
            <a:off x="6515735" y="4249420"/>
            <a:ext cx="5605145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謝謝觀看</a:t>
            </a:r>
            <a:endParaRPr lang="en-US" sz="8000" b="1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ppt/theme/themeOverride2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ppt/theme/themeOverride3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ppt/theme/themeOverride4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</Words>
  <Application>WPS Presentation</Application>
  <PresentationFormat>自訂</PresentationFormat>
  <Paragraphs>267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新細明體</vt:lpstr>
      <vt:lpstr>Wingdings</vt:lpstr>
      <vt:lpstr>微軟正黑體</vt:lpstr>
      <vt:lpstr>Noto Sans T Chinese</vt:lpstr>
      <vt:lpstr>王漢宗特黑體</vt:lpstr>
      <vt:lpstr>標楷體</vt:lpstr>
      <vt:lpstr>SimSun</vt:lpstr>
      <vt:lpstr>Arial</vt:lpstr>
      <vt:lpstr>Calibri</vt:lpstr>
      <vt:lpstr>新細明體</vt:lpstr>
      <vt:lpstr>Microsoft YaHei</vt:lpstr>
      <vt:lpstr>Arial Unicode MS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大魚的懲罰</dc:title>
  <dc:creator/>
  <cp:lastModifiedBy>user</cp:lastModifiedBy>
  <cp:revision>41</cp:revision>
  <dcterms:created xsi:type="dcterms:W3CDTF">2006-08-16T00:00:00Z</dcterms:created>
  <dcterms:modified xsi:type="dcterms:W3CDTF">2026-01-12T09:57:49Z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  <property fmtid="{D5CDD505-2E9C-101B-9397-08002B2CF9AE}" pid="3" name="NXPowerLiteLastOptimized">
    <vt:lpwstr>3998381</vt:lpwstr>
  </property>
  <property fmtid="{D5CDD505-2E9C-101B-9397-08002B2CF9AE}" pid="4" name="NXPowerLiteSettings">
    <vt:lpwstr>F7000400038000</vt:lpwstr>
  </property>
  <property fmtid="{D5CDD505-2E9C-101B-9397-08002B2CF9AE}" pid="5" name="NXPowerLiteVersion">
    <vt:lpwstr>S10.9.4</vt:lpwstr>
  </property>
</Properties>
</file>